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b865950ccb44a58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e8c1fe39cd554985" /><Relationship Type="http://schemas.openxmlformats.org/officeDocument/2006/relationships/custom-properties" Target="/docProps/custom.xml" Id="R86988620f8c147d6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Relationship Type="http://schemas.openxmlformats.org/officeDocument/2006/relationships/slideLayout" Target="/ppt/slideLayouts/slideLayout8.xml" Id="rId9" /><Relationship Type="http://schemas.openxmlformats.org/officeDocument/2006/relationships/slideLayout" Target="/ppt/slideLayouts/slideLayout9.xml" Id="rId10" /><Relationship Type="http://schemas.openxmlformats.org/officeDocument/2006/relationships/slideLayout" Target="/ppt/slideLayouts/slideLayout10.xml" Id="rId11" /><Relationship Type="http://schemas.openxmlformats.org/officeDocument/2006/relationships/slideLayout" Target="/ppt/slideLayouts/slideLayout11.xml" Id="rId12" /><Relationship Type="http://schemas.openxmlformats.org/officeDocument/2006/relationships/slideLayout" Target="/ppt/slideLayouts/slideLayout12.xml" Id="rId13" /><Relationship Type="http://schemas.openxmlformats.org/officeDocument/2006/relationships/slideLayout" Target="/ppt/slideLayouts/slideLayout13.xml" Id="rId14" /><Relationship Type="http://schemas.openxmlformats.org/officeDocument/2006/relationships/slideLayout" Target="/ppt/slideLayouts/slideLayout14.xml" Id="rId15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Id2" /><Relationship Type="http://schemas.openxmlformats.org/officeDocument/2006/relationships/image" Target="/ppt/media/image2.pn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3.png" Id="rId2" /><Relationship Type="http://schemas.openxmlformats.org/officeDocument/2006/relationships/image" Target="/ppt/media/image4.pn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5.png" Id="rId2" /><Relationship Type="http://schemas.openxmlformats.org/officeDocument/2006/relationships/image" Target="/ppt/media/image6.pn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7.png" Id="rId2" /><Relationship Type="http://schemas.openxmlformats.org/officeDocument/2006/relationships/image" Target="/ppt/media/image8.pn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9.png" Id="rId2" /><Relationship Type="http://schemas.openxmlformats.org/officeDocument/2006/relationships/image" Target="/ppt/media/image10.png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11.png" Id="rId2" /><Relationship Type="http://schemas.openxmlformats.org/officeDocument/2006/relationships/image" Target="/ppt/media/image12.pn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3.png" Id="rId2" /><Relationship Type="http://schemas.openxmlformats.org/officeDocument/2006/relationships/image" Target="/ppt/media/image14.png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image" Target="/ppt/media/image.jpg" Id="rId2" /><Relationship Type="http://schemas.openxmlformats.org/officeDocument/2006/relationships/image" Target="/ppt/media/image15.pn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image" Target="/ppt/media/image2.jpg" Id="rId2" /><Relationship Type="http://schemas.openxmlformats.org/officeDocument/2006/relationships/image" Target="/ppt/media/image16.pn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image" Target="/ppt/media/image17.png" Id="rI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image" Target="/ppt/media/image18.png" Id="rI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Id1" /><Relationship Type="http://schemas.openxmlformats.org/officeDocument/2006/relationships/image" Target="/ppt/media/image19.png" Id="rId2" /><Relationship Type="http://schemas.openxmlformats.org/officeDocument/2006/relationships/image" Target="/ppt/media/image20.png" Id="rI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" /><Relationship Type="http://schemas.openxmlformats.org/officeDocument/2006/relationships/image" Target="/ppt/media/image21.png" Id="rI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Id1" /><Relationship Type="http://schemas.openxmlformats.org/officeDocument/2006/relationships/image" Target="/ppt/media/image22.png" Id="rId2" /><Relationship Type="http://schemas.openxmlformats.org/officeDocument/2006/relationships/image" Target="/ppt/media/image23.png" Id="rId3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520444" y="482015"/>
            <a:ext cx="7496690" cy="2153772"/>
          </a:xfrm>
          <a:prstGeom prst="rect">
            <a:avLst/>
          </a:prstGeom>
          <a:noFill/>
        </p:spPr>
        <p:txBody>
          <a:bodyPr anchor="b"/>
          <a:lstStyle/>
          <a:p>
            <a:pPr marL="0" algn="ctr">
              <a:lnSpc>
                <a:spcPts val="9500"/>
              </a:lnSpc>
            </a:pPr>
            <a:r>
              <a:rPr lang="zh-CN" altLang="en-US" sz="8799" b="1" i="0" u="sng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《西游记》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312" y="689110"/>
            <a:ext cx="4620567" cy="6274591"/>
          </a:xfrm>
          <a:prstGeom prst="rect">
            <a:avLst/>
          </a:prstGeom>
        </p:spPr>
      </p:pic>
      <p:sp>
        <p:nvSpPr>
          <p:cNvPr id="4" name="文本2"/>
          <p:cNvSpPr txBox="1"/>
          <p:nvPr/>
        </p:nvSpPr>
        <p:spPr>
          <a:xfrm>
            <a:off x="6385178" y="2445286"/>
            <a:ext cx="3767223" cy="95885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300"/>
              </a:lnSpc>
            </a:pPr>
            <a:r>
              <a:rPr lang="zh-CN" altLang="en-US" sz="4399" b="1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「明」吴承恩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000">
    <p:circle/>
  </p:transition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1907" y="0"/>
            <a:ext cx="6056302" cy="5967841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4173788" y="1343989"/>
            <a:ext cx="7916330" cy="27965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 《西游记》是中国古代第一部浪漫主义章回体长篇神魔小说。现存明刊百回本《西游记》均无作者署名。清代学者吴玉揞等首先提《西游记》作者是明代吴承恩。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 这部小说以"唐僧取经"这一历史事件为蓝本，通过作者的艺术加工，深刻地描绘了明代社会现实。</a:t>
            </a:r>
          </a:p>
        </p:txBody>
      </p:sp>
      <p:grpSp>
        <p:nvGrpSpPr>
          <p:cNvPr id="4" name="组合1"/>
          <p:cNvGrpSpPr/>
          <p:nvPr/>
        </p:nvGrpSpPr>
        <p:grpSpPr>
          <a:xfrm>
            <a:off x="4173788" y="145019"/>
            <a:ext cx="2060398" cy="803591"/>
            <a:chOff x="0" y="0"/>
            <a:chExt cx="2060398" cy="803591"/>
          </a:xfrm>
        </p:grpSpPr>
        <p:sp>
          <p:nvSpPr>
            <p:cNvPr id="5" name="形状1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文本2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书本背景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000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1096776" y="1729383"/>
            <a:ext cx="10181327" cy="321564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西游记》是明朝人吴承恩把唐僧取经的故事和民间传说相结合写成的。小说描写了曾经大闹天宫的神猴孙悟空后遇见了唐僧、猪八戒、沙僧和白龙马，西行取经，一路降妖伏魔，经历了九九八十一难，终于到达西天见到如来佛祖，最终五圣成真的故事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《西游记》 想象丰高、故事精彩，语言生动，是我国著名的长篇神话小说。</a:t>
            </a:r>
          </a:p>
        </p:txBody>
      </p:sp>
      <p:grpSp>
        <p:nvGrpSpPr>
          <p:cNvPr id="3" name="组合1"/>
          <p:cNvGrpSpPr/>
          <p:nvPr/>
        </p:nvGrpSpPr>
        <p:grpSpPr>
          <a:xfrm>
            <a:off x="5000997" y="537490"/>
            <a:ext cx="2789717" cy="816293"/>
            <a:chOff x="0" y="0"/>
            <a:chExt cx="2789717" cy="816293"/>
          </a:xfrm>
        </p:grpSpPr>
        <p:pic>
          <p:nvPicPr>
            <p:cNvPr id="4" name="图片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789717" cy="738186"/>
            </a:xfrm>
            <a:prstGeom prst="rect">
              <a:avLst/>
            </a:prstGeom>
          </p:spPr>
        </p:pic>
        <p:sp>
          <p:nvSpPr>
            <p:cNvPr id="5" name="文本2"/>
            <p:cNvSpPr txBox="1"/>
            <p:nvPr/>
          </p:nvSpPr>
          <p:spPr>
            <a:xfrm>
              <a:off x="123316" y="31432"/>
              <a:ext cx="2000285" cy="78486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000"/>
                </a:lnSpc>
              </a:pPr>
              <a:r>
                <a:rPr lang="zh-CN" altLang="en-US" sz="2800" b="1" i="0" dirty="0">
                  <a:solidFill>
                    <a:srgbClr val="DDD9C3">
                      <a:alpha val="100000"/>
                    </a:srgbClr>
                  </a:solidFill>
                  <a:latin typeface="宋体"/>
                  <a:ea typeface="宋体"/>
                </a:rPr>
                <a:t>主要内容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5000997" y="537490"/>
            <a:ext cx="2789717" cy="816293"/>
            <a:chOff x="0" y="0"/>
            <a:chExt cx="2789717" cy="816293"/>
          </a:xfrm>
        </p:grpSpPr>
        <p:pic>
          <p:nvPicPr>
            <p:cNvPr id="3" name="图片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789717" cy="738186"/>
            </a:xfrm>
            <a:prstGeom prst="rect">
              <a:avLst/>
            </a:prstGeom>
          </p:spPr>
        </p:pic>
        <p:sp>
          <p:nvSpPr>
            <p:cNvPr id="4" name="文本2"/>
            <p:cNvSpPr txBox="1"/>
            <p:nvPr/>
          </p:nvSpPr>
          <p:spPr>
            <a:xfrm>
              <a:off x="123316" y="31432"/>
              <a:ext cx="2000285" cy="78486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000"/>
                </a:lnSpc>
              </a:pPr>
              <a:r>
                <a:rPr lang="zh-CN" altLang="en-US" sz="2800" b="1" i="0" dirty="0">
                  <a:solidFill>
                    <a:srgbClr val="DDD9C3">
                      <a:alpha val="100000"/>
                    </a:srgbClr>
                  </a:solidFill>
                  <a:latin typeface="宋体"/>
                  <a:ea typeface="宋体"/>
                </a:rPr>
                <a:t>白话小说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1305996" y="1529488"/>
            <a:ext cx="9641230" cy="380238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 </a:t>
            </a:r>
            <a:r>
              <a:rPr lang="zh-CN" altLang="en-US" sz="2800" b="1" i="0" dirty="0">
                <a:solidFill>
                  <a:srgbClr val="FFFF00">
                    <a:alpha val="100000"/>
                  </a:srgbClr>
                </a:solidFill>
                <a:latin typeface="楷体"/>
                <a:ea typeface="楷体"/>
              </a:rPr>
              <a:t>  白话小说，相对于“文言小说”而言，是唐宋以来用通俗语言（白话）所写的小说的统称，它的前身是民间故事和所谓的“街谈巷语”。</a:t>
            </a:r>
            <a:r>
              <a:rPr lang="zh-CN" altLang="en-US" sz="2800" b="1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明清白话小说的特点有：①讲究情节的曲折和故事的完整，往往把刻画人物的行动、语言作为塑造人物形象的重要手段；②叙述时常带有说书人的印记，如“看官听说”“且把闲话休提”“且听下回分解”等；③为了需要而设置巧合，使故事情节曲折生动。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307311" y="110931"/>
            <a:ext cx="2060398" cy="803591"/>
            <a:chOff x="0" y="0"/>
            <a:chExt cx="2060398" cy="803591"/>
          </a:xfrm>
        </p:grpSpPr>
        <p:sp>
          <p:nvSpPr>
            <p:cNvPr id="7" name="形状1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文体知识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000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07311" y="110931"/>
            <a:ext cx="2060398" cy="803591"/>
            <a:chOff x="0" y="0"/>
            <a:chExt cx="2060398" cy="803591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作者简介</a:t>
              </a:r>
            </a:p>
          </p:txBody>
        </p:sp>
      </p:grp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3906" y="537491"/>
            <a:ext cx="5611867" cy="6635877"/>
          </a:xfrm>
          <a:prstGeom prst="rect">
            <a:avLst/>
          </a:prstGeom>
        </p:spPr>
      </p:pic>
      <p:sp>
        <p:nvSpPr>
          <p:cNvPr id="6" name="文本1"/>
          <p:cNvSpPr txBox="1"/>
          <p:nvPr/>
        </p:nvSpPr>
        <p:spPr>
          <a:xfrm>
            <a:off x="3971663" y="306926"/>
            <a:ext cx="8113011" cy="619046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 吴承恩(1506年--约1583年)， 字汝忠，号射阳山人。汉族，淮安府山阳县人(现淮安市淮安区人)。祖籍安徽，以祖先聚居枞阳高甸,故称高甸吴氏。</a:t>
            </a:r>
          </a:p>
          <a:p>
            <a:pPr marL="0" algn="l"/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/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 吴承恩自幼敏慧，博览群书，尤喜爱神话故事。在科举中屡遭挫折，嘉靖中举为岁贡生。嘉靖二十八年（1549年）迁居南京，卖文为生。嘉靖三十九年（1560年）任浙江长兴县丞，不久辞官归去。由于宦途困顿，他晚年绝意仕进，闭门著述。</a:t>
            </a:r>
          </a:p>
          <a:p>
            <a:pPr marL="0" algn="l"/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/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 吴承恩在文学上能够从复古中独辟蹊径，以清新隽永的文风独步文坛。他主要作品有《射阳先生存稿》《禹鼎志序》《西游记》。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000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07311" y="110931"/>
            <a:ext cx="2060398" cy="803591"/>
            <a:chOff x="0" y="0"/>
            <a:chExt cx="2060398" cy="803591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人物形象</a:t>
              </a:r>
            </a:p>
          </p:txBody>
        </p:sp>
      </p:grp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4041" y="449579"/>
            <a:ext cx="4639771" cy="6858000"/>
          </a:xfrm>
          <a:prstGeom prst="rect">
            <a:avLst/>
          </a:prstGeom>
        </p:spPr>
      </p:pic>
      <p:sp>
        <p:nvSpPr>
          <p:cNvPr id="6" name="文本1"/>
          <p:cNvSpPr txBox="1"/>
          <p:nvPr/>
        </p:nvSpPr>
        <p:spPr>
          <a:xfrm>
            <a:off x="3431683" y="956636"/>
            <a:ext cx="7663983" cy="363473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1.唐僧(唐三藏)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虔诚坚定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:一心向佛，面对九九八十一难始终不改取经信念。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仁慈迂腐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:常因”不杀生”的教条苛责悟空，善恶不分(如三打白骨精)。软弱依赖:武力值为零，遇险只能念紧箍咒或呼救。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象征意义:代表“信念”，是团队的精神核心，但缺乏实际解决问题的能力。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5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07311" y="110931"/>
            <a:ext cx="2060398" cy="803591"/>
            <a:chOff x="0" y="0"/>
            <a:chExt cx="2060398" cy="803591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人物形象</a:t>
              </a:r>
            </a:p>
          </p:txBody>
        </p:sp>
      </p:grp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959"/>
            <a:ext cx="4246072" cy="5766040"/>
          </a:xfrm>
          <a:prstGeom prst="rect">
            <a:avLst/>
          </a:prstGeom>
        </p:spPr>
      </p:pic>
      <p:sp>
        <p:nvSpPr>
          <p:cNvPr id="6" name="文本1"/>
          <p:cNvSpPr txBox="1"/>
          <p:nvPr/>
        </p:nvSpPr>
        <p:spPr>
          <a:xfrm>
            <a:off x="3563784" y="864992"/>
            <a:ext cx="7937164" cy="363474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2.孙悟空(美猴王)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神通广大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:七十二变、火眼金睛，战斗力天花板。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桀骜叛逆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:大闹天宫体现反抗精神，紧箍咒是对其野性的约束。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机智忠诚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:后期逐渐成熟(如智取芭蕉扇)，成为团队实际领导者。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象征意义:代表”能力”与”自由意志”，是突功国在从从键力量。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5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07311" y="110931"/>
            <a:ext cx="2060398" cy="803591"/>
            <a:chOff x="0" y="0"/>
            <a:chExt cx="2060398" cy="803591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人物形象</a:t>
              </a:r>
            </a:p>
          </p:txBody>
        </p:sp>
      </p:grp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00" t="0" r="10499" b="0"/>
          <a:stretch>
            <a:fillRect/>
          </a:stretch>
        </p:blipFill>
        <p:spPr>
          <a:xfrm>
            <a:off x="311120" y="1565423"/>
            <a:ext cx="3316433" cy="4435704"/>
          </a:xfrm>
          <a:prstGeom prst="rect">
            <a:avLst/>
          </a:prstGeom>
        </p:spPr>
      </p:pic>
      <p:sp>
        <p:nvSpPr>
          <p:cNvPr id="6" name="文本1"/>
          <p:cNvSpPr txBox="1"/>
          <p:nvPr/>
        </p:nvSpPr>
        <p:spPr>
          <a:xfrm>
            <a:off x="3907462" y="1515893"/>
            <a:ext cx="8300306" cy="361905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3猪八戒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贪吃好色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:高老庄抢亲、偷藏私房钱，屡犯戒律。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懒惰怯懦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:动辄喊”分行李”，却常被派去探路/打水。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幽默真实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:小人物的欲望与插科打诨调剂了取经的严肃性。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象征意义:代表”欲望”，凸显人性弱点，反衬修行的艰难。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5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07311" y="110931"/>
            <a:ext cx="2060398" cy="803591"/>
            <a:chOff x="0" y="0"/>
            <a:chExt cx="2060398" cy="803591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人物形象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3976198" y="1338721"/>
            <a:ext cx="7532471" cy="32156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4.沙僧(沙悟净)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踏实勤恳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:默默挑担、调解矛盾(如调和悟空与唐僧)。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存在感弱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:台词多为”大师兄说得对”“师父被妖怪抓走了”。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9900">
                    <a:alpha val="100000"/>
                  </a:srgbClr>
                </a:solidFill>
                <a:latin typeface="楷体"/>
                <a:ea typeface="楷体"/>
              </a:rPr>
              <a:t>忠诚可靠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:唯一从未动摇过的成员。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象征意义:代表”服从”，是团队稳定的基石。</a:t>
            </a:r>
          </a:p>
        </p:txBody>
      </p: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06" t="0" r="13281" b="0"/>
          <a:stretch>
            <a:fillRect/>
          </a:stretch>
        </p:blipFill>
        <p:spPr>
          <a:xfrm>
            <a:off x="311121" y="1069702"/>
            <a:ext cx="3329798" cy="462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5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1687173" y="983439"/>
            <a:ext cx="8705248" cy="279064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700"/>
              </a:lnSpc>
            </a:pPr>
            <a:r>
              <a:rPr lang="zh-CN" altLang="en-US" sz="4800" b="1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100000"/>
                    </a:srgbClr>
                  </a:outerShdw>
                </a:effectLst>
                <a:latin typeface="Microsoft YaHei"/>
                <a:ea typeface="Microsoft YaHei"/>
              </a:rPr>
              <a:t>团队隐喻</a:t>
            </a:r>
            <a:r>
              <a:rPr lang="zh-CN" altLang="en-US" sz="4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:</a:t>
            </a:r>
          </a:p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  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四人实为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”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一体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”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的修行象征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——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孙悟空，是心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(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躁动与智慧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)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，猪八戒是情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 (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欲望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)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，沙僧是性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(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本性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)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，白龙马是意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(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意志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rPr>
              <a:t>)</a:t>
            </a:r>
            <a:r>
              <a:rPr lang="zh-CN" altLang="en-US" sz="28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，唐僧则是修行目标。这种设计使得取经过程成为人性完善的寓言。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50">
    <p:push dir="l"/>
  </p:transition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07311" y="110931"/>
            <a:ext cx="4730880" cy="963724"/>
            <a:chOff x="0" y="0"/>
            <a:chExt cx="4730880" cy="963724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4727070" cy="914194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1"/>
            <p:cNvSpPr txBox="1"/>
            <p:nvPr/>
          </p:nvSpPr>
          <p:spPr>
            <a:xfrm>
              <a:off x="0" y="0"/>
              <a:ext cx="4498522" cy="91419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我对《西游记》的看法</a:t>
              </a:r>
            </a:p>
          </p:txBody>
        </p:sp>
      </p:grpSp>
      <p:grpSp>
        <p:nvGrpSpPr>
          <p:cNvPr id="5" name="组合2"/>
          <p:cNvGrpSpPr/>
          <p:nvPr/>
        </p:nvGrpSpPr>
        <p:grpSpPr>
          <a:xfrm>
            <a:off x="203189" y="1189120"/>
            <a:ext cx="11781810" cy="5333329"/>
            <a:chOff x="0" y="0"/>
            <a:chExt cx="11781810" cy="5333329"/>
          </a:xfrm>
        </p:grpSpPr>
        <p:sp>
          <p:nvSpPr>
            <p:cNvPr id="6" name="形状2"/>
            <p:cNvSpPr txBox="1"/>
            <p:nvPr/>
          </p:nvSpPr>
          <p:spPr>
            <a:xfrm>
              <a:off x="3810" y="49530"/>
              <a:ext cx="11778000" cy="5120640"/>
            </a:xfrm>
            <a:prstGeom prst="rect"/>
            <a:solidFill>
              <a:srgbClr val="3399FF">
                <a:alpha val="100000"/>
              </a:srgbClr>
            </a:solidFill>
            <a:ln w="25400">
              <a:solidFill>
                <a:srgbClr val="0065CB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文本2"/>
            <p:cNvSpPr txBox="1"/>
            <p:nvPr/>
          </p:nvSpPr>
          <p:spPr>
            <a:xfrm>
              <a:off x="0" y="0"/>
              <a:ext cx="11778000" cy="5333329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3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读完《西游记》，心中感慨万千。这本书以唐朝高僧玄奘西天取经的故事为蓝本，塑造了一个个栩栩如生、个性鲜明的人物形象，编织出了-段段精彩绝伦、跌宕起伏的冒险情节。</a:t>
              </a:r>
            </a:p>
            <a:p>
              <a:pPr marL="0" algn="l"/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/>
              </a:r>
            </a:p>
            <a:p>
              <a:pPr marL="0" algn="l">
                <a:lnSpc>
                  <a:spcPts val="33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《西游记》不仅仅是一部神话小说， 更是一部蕴含着深刻人生哲理的作品。它让我明白，在人生的道路上，我们会遇到各种各样的困难和挑战，就如同唐僧师徒所经历的九九八十一难。但只要我们像他们一样，保持着坚定的信念、无畏的勇气和团结协作的精神，就一定能够战胜困难，取得成功。同时，书中也告诫我们，不能被表面的假象所迷惑，要学会明辨是非，就像唐僧有时会误把妖怪当作好人，我们在生活中也需要保持清醒的头脑，不被虚假的事物所误导。</a:t>
              </a:r>
            </a:p>
            <a:p>
              <a:pPr marL="0" algn="l"/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5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319544" y="206286"/>
            <a:ext cx="2060398" cy="803591"/>
            <a:chOff x="0" y="0"/>
            <a:chExt cx="2060398" cy="803591"/>
          </a:xfrm>
        </p:grpSpPr>
        <p:sp>
          <p:nvSpPr>
            <p:cNvPr id="3" name="形状2"/>
            <p:cNvSpPr txBox="1"/>
            <p:nvPr/>
          </p:nvSpPr>
          <p:spPr>
            <a:xfrm>
              <a:off x="3810" y="49530"/>
              <a:ext cx="2056588" cy="754061"/>
            </a:xfrm>
            <a:prstGeom prst="homePlate"/>
            <a:solidFill>
              <a:srgbClr val="FFFFFF">
                <a:alpha val="100000"/>
              </a:srgbClr>
            </a:solidFill>
            <a:ln w="25400">
              <a:solidFill>
                <a:srgbClr val="3893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1868073" cy="75406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总结</a:t>
              </a:r>
            </a:p>
          </p:txBody>
        </p:sp>
      </p:grpSp>
      <p:sp>
        <p:nvSpPr>
          <p:cNvPr id="5" name="形状1"/>
          <p:cNvSpPr txBox="1"/>
          <p:nvPr/>
        </p:nvSpPr>
        <p:spPr>
          <a:xfrm rot="16200000" flipH="1">
            <a:off x="2390613" y="-1145922"/>
            <a:ext cx="3918031" cy="8229627"/>
          </a:xfrm>
          <a:prstGeom prst="wedgeRoundRectCallout"/>
          <a:solidFill>
            <a:srgbClr val="FFFFFF">
              <a:alpha val="100000"/>
            </a:srgbClr>
          </a:solidFill>
          <a:ln w="25400">
            <a:solidFill>
              <a:srgbClr val="666666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文本1"/>
          <p:cNvSpPr txBox="1"/>
          <p:nvPr/>
        </p:nvSpPr>
        <p:spPr>
          <a:xfrm>
            <a:off x="556301" y="1577224"/>
            <a:ext cx="7763605" cy="26949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 《西游记》 以其丰富的想象力、精彩的故事情节和深刻的人生哲理，给我带来了无尽的思考和启示，让我受益匪浅。它将永远在我的心中占据着重要的位置，成为我不断汲取智慧和力量的源泉。</a:t>
            </a:r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932" y="255815"/>
            <a:ext cx="4976327" cy="490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</p:bldLst>
  </p:timing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357031" y="225160"/>
            <a:ext cx="4190499" cy="8788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100000"/>
                    </a:srgbClr>
                  </a:outerShdw>
                </a:effectLst>
                <a:latin typeface="宋体"/>
                <a:ea typeface="宋体"/>
              </a:rPr>
              <a:t>我推荐的十本书</a:t>
            </a:r>
          </a:p>
        </p:txBody>
      </p:sp>
      <p:graphicFrame>
        <p:nvGraphicFramePr>
          <p:cNvPr id="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354359" y="1356667"/>
          <a:ext cx="9351413" cy="4935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53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374359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92453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3758754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1022779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序号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4F81BD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书名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4F81BD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序号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4F81BD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书名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4F81BD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82454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1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《鲁滨逊漂流记》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2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《草房子》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82454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3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《骆驼祥子》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4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《朝花夕拾》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82454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5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《海底两万里》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6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《呐喊》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82454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7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《三国演义》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8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《汤姆</a:t>
                      </a: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索亚历险记》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9EDF4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82454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9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《稻草人》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10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3300"/>
                        </a:lnSpc>
                      </a:pPr>
                      <a:r>
                        <a:rPr lang="zh-CN" altLang="en-US" sz="28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ea typeface="宋体"/>
                        </a:rPr>
                        <a:t>《伊索寓言》</a:t>
                      </a:r>
                    </a:p>
                  </a:txBody>
                  <a:tcPr anchor="ctr">
                    <a:lnL w="635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0D8E8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700">
    <p:fade/>
  </p:transition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38"/>
            <a:ext cx="12192000" cy="6751923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7469458" y="1820526"/>
            <a:ext cx="3163220" cy="10058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700"/>
              </a:lnSpc>
            </a:pPr>
            <a:r>
              <a:rPr lang="zh-CN" altLang="en-US" sz="4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～Thanks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circle/>
  </p:transition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seewo X</dc:creator>
  <dc:title>书香少年5 舒磊</dc:title>
  <revision>1</revision>
  <dcterms:created xsi:type="dcterms:W3CDTF">2025-09-26T15:05:07.7311080Z</dcterms:created>
  <dcterms:modified xsi:type="dcterms:W3CDTF">2025-09-26T15:05:07.7311310Z</dcterms:modified>
  <lastModifiedBy>seewo X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5.2.4.8772</vt:lpwstr>
  </op:property>
  <op:property fmtid="{D5CDD505-2E9C-101B-9397-08002B2CF9AE}" pid="4" name="EasiNoteCoursewareInfo">
    <vt:lpwstr>ccd04f42-625b-4618-87b8-8ea30223fcda:3</vt:lpwstr>
  </op:property>
  <op:property fmtid="{D5CDD505-2E9C-101B-9397-08002B2CF9AE}" pid="5" name="EasiNoteDocumentName">
    <vt:lpwstr>书香少年5 舒磊</vt:lpwstr>
  </op:property>
  <op:property fmtid="{D5CDD505-2E9C-101B-9397-08002B2CF9AE}" pid="6" name="EasiNoteAuthor">
    <vt:lpwstr>sgjrrpshktjhtwzljgvynp2329q15111</vt:lpwstr>
  </op:property>
  <op:property fmtid="{D5CDD505-2E9C-101B-9397-08002B2CF9AE}" pid="7" name="EasiNoteUpstreamCoursewareInfo_0">
    <vt:lpwstr>ccd04f42-625b-4618-87b8-8ea30223fcda</vt:lpwstr>
  </op:property>
</op:Properties>
</file>